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307" r:id="rId3"/>
    <p:sldId id="291" r:id="rId4"/>
    <p:sldId id="300" r:id="rId5"/>
    <p:sldId id="283" r:id="rId6"/>
    <p:sldId id="302" r:id="rId7"/>
    <p:sldId id="312" r:id="rId8"/>
    <p:sldId id="313" r:id="rId9"/>
    <p:sldId id="314" r:id="rId10"/>
    <p:sldId id="310" r:id="rId11"/>
    <p:sldId id="288" r:id="rId12"/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55" autoAdjust="0"/>
    <p:restoredTop sz="94632"/>
  </p:normalViewPr>
  <p:slideViewPr>
    <p:cSldViewPr snapToGrid="0">
      <p:cViewPr varScale="1">
        <p:scale>
          <a:sx n="81" d="100"/>
          <a:sy n="81" d="100"/>
        </p:scale>
        <p:origin x="6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6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12784" y="4242061"/>
            <a:ext cx="4101914" cy="268022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sz="2400" i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i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i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B. Thejaswini[192412479]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Anchal Kumari[192312255]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M. Sandhya[192312421]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400" spc="-25" dirty="0">
                <a:solidFill>
                  <a:srgbClr val="0C0C0C"/>
                </a:solidFill>
                <a:latin typeface="Times New Roman"/>
                <a:cs typeface="Times New Roman"/>
              </a:rPr>
              <a:t>B. Bhavana[192312428]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endParaRPr lang="en-IN" sz="2400" spc="-25" dirty="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912" y="474733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09928" y="41034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484040" y="1817616"/>
            <a:ext cx="11223920" cy="156901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 Case Generation and Bug Reporting System for Online Hotel Booking System</a:t>
            </a:r>
            <a:endParaRPr lang="en-US" b="1" dirty="0"/>
          </a:p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6479" y="1016060"/>
            <a:ext cx="8277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 algn="ctr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lang="en-US"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b="1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algn="ctr">
              <a:lnSpc>
                <a:spcPct val="100000"/>
              </a:lnSpc>
              <a:spcBef>
                <a:spcPts val="620"/>
              </a:spcBef>
            </a:pPr>
            <a:r>
              <a:rPr lang="en-US" sz="2400" i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i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i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Dr. Krishna raj Mony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Professor/CSE</a:t>
            </a:r>
            <a:endParaRPr lang="en-US" sz="2400" b="1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59447" y="3532854"/>
            <a:ext cx="704501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CSA3717 – Software Testing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543" y="1534540"/>
            <a:ext cx="11676913" cy="555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 online booking:</a:t>
            </a:r>
            <a:r>
              <a:rPr lang="en-US" sz="2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Customers search rooms, book, pay and cancel online, so even a small defect can cause lost bookings and revenue.</a:t>
            </a:r>
            <a:endParaRPr lang="en-US" sz="24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testing:</a:t>
            </a:r>
            <a:r>
              <a:rPr lang="en-US" sz="2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Errors in search, availability, payment or cancellation reduce user trust, so every function must be verified before release.</a:t>
            </a:r>
            <a:endParaRPr lang="en-US" sz="24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testing:</a:t>
            </a:r>
            <a:r>
              <a:rPr lang="en-US" sz="2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Testers use the website like a real guest and check each feature by hand to find functional, usability and display problems.</a:t>
            </a:r>
            <a:endParaRPr lang="en-US" sz="24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generation:</a:t>
            </a:r>
            <a:r>
              <a:rPr lang="en-US" sz="2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cases are designed step by step using Equivalence Partitioning, Boundary Value Analysis and Decision Tables.</a:t>
            </a:r>
            <a:endParaRPr lang="en-US" sz="24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reporting:</a:t>
            </a:r>
            <a:r>
              <a:rPr lang="en-US" sz="200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defect is recorded with steps to reproduce, expected and actual result, severity and priority, then tracked until it is closed.</a:t>
            </a:r>
            <a:endParaRPr lang="en-US" sz="240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1707707"/>
            <a:ext cx="6827218" cy="710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Analysis:</a:t>
            </a:r>
            <a:r>
              <a:rPr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Study the hotel booking requirements such as login, search, booking, payment and cancellation.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 Design:</a:t>
            </a:r>
            <a:r>
              <a:rPr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clear and complete test cases using standard design techniques and a fixed template.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Execution:</a:t>
            </a:r>
            <a:r>
              <a:rPr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 the test cases manually and compare actual results with expected results.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Reporting:</a:t>
            </a:r>
            <a:r>
              <a:rPr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 each failed case with steps, severity, priority and screenshots so developers can fix it quickly.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Tracking &amp; Analysis:</a:t>
            </a:r>
            <a:r>
              <a:rPr lang="en-US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 defects from New to Closed, retest the fixes and prepare a test summary report.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898229-A46A-A707-47CE-EF22BF91E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974" y="1858286"/>
            <a:ext cx="4310852" cy="460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6A09F-9EAA-FE2D-2B59-4E3B9A294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35807"/>
              </p:ext>
            </p:extLst>
          </p:nvPr>
        </p:nvGraphicFramePr>
        <p:xfrm>
          <a:off x="545473" y="1902129"/>
          <a:ext cx="11101054" cy="44071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1566">
                  <a:extLst>
                    <a:ext uri="{9D8B030D-6E8A-4147-A177-3AD203B41FA5}">
                      <a16:colId xmlns:a16="http://schemas.microsoft.com/office/drawing/2014/main" val="3308845341"/>
                    </a:ext>
                  </a:extLst>
                </a:gridCol>
                <a:gridCol w="2981240">
                  <a:extLst>
                    <a:ext uri="{9D8B030D-6E8A-4147-A177-3AD203B41FA5}">
                      <a16:colId xmlns:a16="http://schemas.microsoft.com/office/drawing/2014/main" val="1591102623"/>
                    </a:ext>
                  </a:extLst>
                </a:gridCol>
                <a:gridCol w="1889562">
                  <a:extLst>
                    <a:ext uri="{9D8B030D-6E8A-4147-A177-3AD203B41FA5}">
                      <a16:colId xmlns:a16="http://schemas.microsoft.com/office/drawing/2014/main" val="2944023696"/>
                    </a:ext>
                  </a:extLst>
                </a:gridCol>
                <a:gridCol w="955605">
                  <a:extLst>
                    <a:ext uri="{9D8B030D-6E8A-4147-A177-3AD203B41FA5}">
                      <a16:colId xmlns:a16="http://schemas.microsoft.com/office/drawing/2014/main" val="161964537"/>
                    </a:ext>
                  </a:extLst>
                </a:gridCol>
                <a:gridCol w="1985431">
                  <a:extLst>
                    <a:ext uri="{9D8B030D-6E8A-4147-A177-3AD203B41FA5}">
                      <a16:colId xmlns:a16="http://schemas.microsoft.com/office/drawing/2014/main" val="2188369101"/>
                    </a:ext>
                  </a:extLst>
                </a:gridCol>
                <a:gridCol w="2727650">
                  <a:extLst>
                    <a:ext uri="{9D8B030D-6E8A-4147-A177-3AD203B41FA5}">
                      <a16:colId xmlns:a16="http://schemas.microsoft.com/office/drawing/2014/main" val="3314109689"/>
                    </a:ext>
                  </a:extLst>
                </a:gridCol>
              </a:tblGrid>
              <a:tr h="2919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435616"/>
                  </a:ext>
                </a:extLst>
              </a:tr>
              <a:tr h="952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Makes a Good Bug Report?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Zimmermann, R. Premraj, N. Bettenburg, S. Just, A. Schröter, C. Weiss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 survey, CUEZILLA bug report quality scoring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 reports often miss steps to reproduce and other details developers need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2194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Based Testing Approach for Tourism Applications: Use Case Scenarios for Booking Accommodations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E. B. Giritli, Y. S. Can, A. Sen, F. Alagöz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Model-based testing, GraphWalker, Selenium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 of the booking journey: login, hotel search, reservation and payment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20314"/>
                  </a:ext>
                </a:extLst>
              </a:tr>
              <a:tr h="693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Reservation Application Testing at LeGreen Hotel &amp; Suite using Black Box Boundary Value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Yani, D. Setiawan, N. E. Sofian, R. Subagja, T. Desyani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 box testing, Boundary Value Analysis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Verifying hotel reservation functions; faults found in admin login and print report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191319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Art of Software Testing, 3rd 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J. Myers, C. Sandler, T. Badgett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Equivalence partitioning, boundary value analysis, cause-effect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systematic design of effective test cases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9301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Certified Tester Foundation Level Syllabus v4.0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ISTQB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design techniques, defect management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terms and practice for test design and defect reporting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429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6387" y="1534540"/>
            <a:ext cx="7065612" cy="525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Testing:</a:t>
            </a:r>
            <a:r>
              <a:rPr lang="en-US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Testing is done without a plan, so important scenarios are often missed.</a:t>
            </a:r>
            <a:endParaRPr lang="en-US" sz="20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Test Cases:</a:t>
            </a:r>
            <a:r>
              <a:rPr lang="en-US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cases are kept in notes or different sheets with no standard format.</a:t>
            </a:r>
            <a:endParaRPr lang="en-US" sz="20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Bug Reports:</a:t>
            </a:r>
            <a:r>
              <a:rPr lang="en-US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Reports often miss steps to reproduce, test data or screenshots, so developers cannot repeat the bug.</a:t>
            </a:r>
            <a:endParaRPr lang="en-US" sz="20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Traceability:</a:t>
            </a:r>
            <a:r>
              <a:rPr lang="en-US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Bugs are not linked to the requirement or test case that found them.</a:t>
            </a:r>
            <a:endParaRPr lang="en-US" sz="2000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b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Defect Tracking:</a:t>
            </a:r>
            <a:r>
              <a:rPr lang="en-US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Duplicate bugs and unclear status make it hard to know what is fixed.</a:t>
            </a:r>
            <a:endParaRPr lang="en-US" sz="2000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68494F-83A6-7CD3-E662-5642D8292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5" y="1574869"/>
            <a:ext cx="4798122" cy="494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US" sz="36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DA07-98ED-BB62-705A-0E80F7FE5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7" y="1859403"/>
            <a:ext cx="7464430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Requirement-based Test Cases: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 Every requirement of the hotel system gets test cases built with EP, BVA and decision tables.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Test Case Template: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 Each case has ID, module, precondition, steps, test data, expected result, actual result and status.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Bug Report: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 A fixed format with summary, steps, severity, priority, environment and evidence.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Defect Life Cycle: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 Each bug moves through New, Assigned, Fixed, Retest and Closed, or Reopened if it fails again.</a:t>
            </a:r>
            <a:endParaRPr lang="en-US"/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b="1">
                <a:latin typeface="Calibri" pitchFamily="34" charset="0"/>
                <a:ea typeface="Calibri" pitchFamily="34" charset="-122"/>
                <a:cs typeface="Calibri" pitchFamily="34" charset="-120"/>
              </a:rPr>
              <a:t>Test Summary Report: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 Shows passed and failed cases and defects by module and severity to support release decisions.</a:t>
            </a:r>
            <a:endParaRPr lang="en-US"/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D715A-FFB2-937D-F0D2-3327AF75F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487" y="1684700"/>
            <a:ext cx="4568830" cy="48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8D428A-36D4-2A11-3761-CAFD28B35556}"/>
              </a:ext>
            </a:extLst>
          </p:cNvPr>
          <p:cNvSpPr txBox="1"/>
          <p:nvPr/>
        </p:nvSpPr>
        <p:spPr>
          <a:xfrm>
            <a:off x="3546608" y="424543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F8CB2-8FF8-B185-A572-D6DDC8A54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778" y="1453910"/>
            <a:ext cx="10479230" cy="4979547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16D525E-3788-EEB5-456D-458B2B1719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0E53BAD5-E1FD-667C-6BD4-2B42514E4B4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TEST CASES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6A09F-9EAA-FE2D-2B59-4E3B9A294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35807"/>
              </p:ext>
            </p:extLst>
          </p:nvPr>
        </p:nvGraphicFramePr>
        <p:xfrm>
          <a:off x="545473" y="1902129"/>
          <a:ext cx="11101050" cy="44071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5550">
                  <a:extLst>
                    <a:ext uri="{9D8B030D-6E8A-4147-A177-3AD203B41FA5}">
                      <a16:colId xmlns:a16="http://schemas.microsoft.com/office/drawing/2014/main" val="3308845341"/>
                    </a:ext>
                  </a:extLst>
                </a:gridCol>
                <a:gridCol w="1258882">
                  <a:extLst>
                    <a:ext uri="{9D8B030D-6E8A-4147-A177-3AD203B41FA5}">
                      <a16:colId xmlns:a16="http://schemas.microsoft.com/office/drawing/2014/main" val="1591102623"/>
                    </a:ext>
                  </a:extLst>
                </a:gridCol>
                <a:gridCol w="2746652">
                  <a:extLst>
                    <a:ext uri="{9D8B030D-6E8A-4147-A177-3AD203B41FA5}">
                      <a16:colId xmlns:a16="http://schemas.microsoft.com/office/drawing/2014/main" val="2944023696"/>
                    </a:ext>
                  </a:extLst>
                </a:gridCol>
                <a:gridCol w="2517764">
                  <a:extLst>
                    <a:ext uri="{9D8B030D-6E8A-4147-A177-3AD203B41FA5}">
                      <a16:colId xmlns:a16="http://schemas.microsoft.com/office/drawing/2014/main" val="161964537"/>
                    </a:ext>
                  </a:extLst>
                </a:gridCol>
                <a:gridCol w="2746652">
                  <a:extLst>
                    <a:ext uri="{9D8B030D-6E8A-4147-A177-3AD203B41FA5}">
                      <a16:colId xmlns:a16="http://schemas.microsoft.com/office/drawing/2014/main" val="2188369101"/>
                    </a:ext>
                  </a:extLst>
                </a:gridCol>
                <a:gridCol w="915550">
                  <a:extLst>
                    <a:ext uri="{9D8B030D-6E8A-4147-A177-3AD203B41FA5}">
                      <a16:colId xmlns:a16="http://schemas.microsoft.com/office/drawing/2014/main" val="3314109689"/>
                    </a:ext>
                  </a:extLst>
                </a:gridCol>
              </a:tblGrid>
              <a:tr h="2919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 ID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Scenario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Data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Result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435616"/>
                  </a:ext>
                </a:extLst>
              </a:tr>
              <a:tr h="952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TC_01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with valid email and password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Email: user@test.com, valid password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logs in and lands on home page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2194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TC_02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hotels with check-out date before check-in date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Check-in 10-Nov, check-out 08-Nov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Error: check-out must be after check-in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20314"/>
                  </a:ext>
                </a:extLst>
              </a:tr>
              <a:tr h="693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TC_03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a room for the maximum allowed guests (BVA)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Guests = 4 (max), 5 (above max)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accepted; 5 shows error message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191319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TC_04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 using a card with insufficient balance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 card, balance below amount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declined; booking not confirmed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9301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TC_05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 a confirmed booking before the deadline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ID of confirmed booking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cancelled; refund message shown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4297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BUG REPORTS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C6A09F-9EAA-FE2D-2B59-4E3B9A294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35807"/>
              </p:ext>
            </p:extLst>
          </p:nvPr>
        </p:nvGraphicFramePr>
        <p:xfrm>
          <a:off x="545473" y="1902129"/>
          <a:ext cx="11101050" cy="35840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15550">
                  <a:extLst>
                    <a:ext uri="{9D8B030D-6E8A-4147-A177-3AD203B41FA5}">
                      <a16:colId xmlns:a16="http://schemas.microsoft.com/office/drawing/2014/main" val="3308845341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1591102623"/>
                    </a:ext>
                  </a:extLst>
                </a:gridCol>
                <a:gridCol w="2746652">
                  <a:extLst>
                    <a:ext uri="{9D8B030D-6E8A-4147-A177-3AD203B41FA5}">
                      <a16:colId xmlns:a16="http://schemas.microsoft.com/office/drawing/2014/main" val="2944023696"/>
                    </a:ext>
                  </a:extLst>
                </a:gridCol>
                <a:gridCol w="3433315">
                  <a:extLst>
                    <a:ext uri="{9D8B030D-6E8A-4147-A177-3AD203B41FA5}">
                      <a16:colId xmlns:a16="http://schemas.microsoft.com/office/drawing/2014/main" val="161964537"/>
                    </a:ext>
                  </a:extLst>
                </a:gridCol>
                <a:gridCol w="1602213">
                  <a:extLst>
                    <a:ext uri="{9D8B030D-6E8A-4147-A177-3AD203B41FA5}">
                      <a16:colId xmlns:a16="http://schemas.microsoft.com/office/drawing/2014/main" val="2188369101"/>
                    </a:ext>
                  </a:extLst>
                </a:gridCol>
                <a:gridCol w="1029994">
                  <a:extLst>
                    <a:ext uri="{9D8B030D-6E8A-4147-A177-3AD203B41FA5}">
                      <a16:colId xmlns:a16="http://schemas.microsoft.com/office/drawing/2014/main" val="3314109689"/>
                    </a:ext>
                  </a:extLst>
                </a:gridCol>
              </a:tblGrid>
              <a:tr h="2919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 ID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Steps to Reproduce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Severity / Priority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6435616"/>
                  </a:ext>
                </a:extLst>
              </a:tr>
              <a:tr h="9529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BUG_01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(TC_03)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accepts 5 guests when maximum is 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Search a room 2. Select 5 guests 3. Click Book Now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/ High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242194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BUG_02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Booking confirmed even though payment failed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Choose room 2. Enter declined card 3. Submit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/ High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820314"/>
                  </a:ext>
                </a:extLst>
              </a:tr>
              <a:tr h="693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BUG_03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 filter shows rooms above the selected maximum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Open search 2. Set max price 3,000 3. Apply filter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 / Medium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191319"/>
                  </a:ext>
                </a:extLst>
              </a:tr>
              <a:tr h="8230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BUG_04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Logo overlaps menu on small screens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Open site on mobile 2. View home page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/ Low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9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223158" y="1515956"/>
            <a:ext cx="6094070" cy="4806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300" b="1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</a:t>
            </a:r>
            <a:r>
              <a:rPr lang="en-I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presents a manual testing system for an online hotel booking website. It designs test cases for login, search, booking, payment and cancellation, executes them by hand, and records every defect in a standard bug report that is tracked to closure. This improves test coverage, helps developers fix bugs faster and raises the quality of the booking system.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4354975" y="388129"/>
            <a:ext cx="609407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257BD-69BF-B828-503A-2B4403C0EF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00"/>
          <a:stretch>
            <a:fillRect/>
          </a:stretch>
        </p:blipFill>
        <p:spPr>
          <a:xfrm>
            <a:off x="6594262" y="1534885"/>
            <a:ext cx="5227623" cy="4788028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DE7A5A73-E751-ABA4-7FAB-0D21F6D81A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E849C555-954C-7600-7ABE-721CC7B990F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720591" y="1882822"/>
            <a:ext cx="10750818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1. T. Zimmermann, R. Premraj, N. Bettenburg, S. Just, A. Schröter, and C. Weiss, “What Makes a Good Bug Report?,” IEEE Transactions on Software Engineering, vol. 36, no. 5, pp. 618–643, 2010.</a:t>
            </a:r>
          </a:p>
          <a:p>
            <a:pPr lvl="0"/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2. E. B. Giritli, Y. S. Can, A. Sen, and F. Alagöz, “Model Based Testing Approach for Tourism Applications: Use Case Scenarios for Booking Accommodations,” Computer Science &amp; Information Technology (CS &amp; IT), pp. 57–64, 2024. DOI: 10.5121/csit.2024.142006.</a:t>
            </a:r>
          </a:p>
          <a:p>
            <a:pPr lvl="0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3. A. Yani, D. Setiawan, N. E. Sofian, R. Subagja, and T. Desyani, “Pengujian Aplikasi Reservasi Hotel di LeGreen Hotel &amp; Suite dengan Metode Black Box Testing Boundary Value Analysis,” Jurnal Teknologi Sistem Informasi dan Aplikasi, 2020.</a:t>
            </a:r>
          </a:p>
          <a:p>
            <a:pPr lvl="0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4. G. J. Myers, C. Sandler, and T. Badgett, The Art of Software Testing, 3rd ed. Hoboken, NJ, USA: Wiley, 2011.</a:t>
            </a:r>
          </a:p>
          <a:p>
            <a:pPr lvl="0"/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700">
                <a:latin typeface="Times New Roman" panose="02020603050405020304" pitchFamily="18" charset="0"/>
                <a:cs typeface="Times New Roman" panose="02020603050405020304" pitchFamily="18" charset="0"/>
              </a:rPr>
              <a:t>5. ISTQB, “Certified Tester Foundation Level Syllabus,” International Software Testing Qualifications Board, v4.0, 2023.</a:t>
            </a:r>
          </a:p>
          <a:p>
            <a:pPr lvl="0"/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1335</Words>
  <Application>Microsoft Office PowerPoint</Application>
  <PresentationFormat>Widescreen</PresentationFormat>
  <Paragraphs>160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teja bommineni</cp:lastModifiedBy>
  <cp:revision>12</cp:revision>
  <dcterms:created xsi:type="dcterms:W3CDTF">2026-05-12T03:48:28Z</dcterms:created>
  <dcterms:modified xsi:type="dcterms:W3CDTF">2026-10-30T03:49:33Z</dcterms:modified>
</cp:coreProperties>
</file>